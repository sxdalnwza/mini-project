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rompt" panose="00000500000000000000" pitchFamily="2" charset="-34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18F48-76DB-443D-B3AA-DFC5537F19E4}" type="datetimeFigureOut">
              <a:rPr lang="th-TH" smtClean="0"/>
              <a:t>12/10/69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CEFB5-EB79-4272-9DAD-F5FDFC701B0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4165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EFB5-EB79-4272-9DAD-F5FDFC701B04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2696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EFB5-EB79-4272-9DAD-F5FDFC701B04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049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8671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1A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12008" y="2085975"/>
            <a:ext cx="4572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867150"/>
            <a:ext cx="38100" cy="990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457450"/>
            <a:ext cx="7471597" cy="5770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th-TH" sz="3600" b="1" dirty="0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การพัฒนาเว็บไซต์พอร์ตโฟลิโอส่วนตัว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81350"/>
            <a:ext cx="107632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94A3B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Personal Portfolio Website (Semantic HTML5 &amp; External CSS3)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00250"/>
            <a:ext cx="27051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057650"/>
            <a:ext cx="69532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500" b="1" dirty="0">
                <a:solidFill>
                  <a:srgbClr val="F8FA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นายปวีณ์กร ศรีสุข (โซดา)  ·  รหัสนักศึกษา 684259014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400550"/>
            <a:ext cx="69532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350" dirty="0">
                <a:solidFill>
                  <a:srgbClr val="94A3B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สาขาวิชาวิศวกรรมซอฟต์แวร์ มหาวิทยาลัยราชภัฏนครปฐม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2725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752725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752725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66198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028950"/>
            <a:ext cx="29527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028950"/>
            <a:ext cx="29527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028950"/>
            <a:ext cx="29527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80631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531066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วัตถุประสงค์และขอบเขตของโครงงาน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448050"/>
            <a:ext cx="32004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เป้าหมายหลัก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76675"/>
            <a:ext cx="304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สร้าง Portfolio ส่วนตัวรวบรวมผลงาน</a:t>
            </a:r>
            <a:endParaRPr sz="1350" b="0" i="0" u="none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4201287"/>
            <a:ext cx="304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เตรียมความพร้อมเพื่อการสมัครฝึกงาน</a:t>
            </a:r>
            <a:endParaRPr sz="1350" b="0" i="0" u="none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9625" y="3448050"/>
            <a:ext cx="32004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กลุ่มเป้าหมาย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76675"/>
            <a:ext cx="304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อาจารย์ประจำวิชา สำหรับประเมินเกณฑ์โครงงาน</a:t>
            </a:r>
            <a:endParaRPr lang="th-TH" sz="1350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9625" y="4410254"/>
            <a:ext cx="304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บุคลากรและทีมวิศวกรรมซอฟต์แวร์ สำหรับการพิจารณารับเข้าฝึกงาน</a:t>
            </a:r>
            <a:endParaRPr lang="th-TH" sz="1350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53425" y="3448050"/>
            <a:ext cx="32004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ขอบเขตการพัฒนา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876675"/>
            <a:ext cx="304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เว็บไซต์รูปแบบ Multi-page ครบถ้วน 4 หน้า</a:t>
            </a:r>
            <a:endParaRPr sz="1350" b="0" i="0" u="none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53425" y="4424732"/>
            <a:ext cx="304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400" dirty="0">
                <a:latin typeface="Prompt" panose="00000500000000000000" pitchFamily="2" charset="-34"/>
                <a:cs typeface="Prompt" panose="00000500000000000000" pitchFamily="2" charset="-34"/>
              </a:rPr>
              <a:t>รองรับการแสดงผลแบบ Responsive บนทุกอุปกรณ์</a:t>
            </a:r>
            <a:endParaRPr sz="1350" b="0" i="0" u="none" dirty="0">
              <a:solidFill>
                <a:srgbClr val="475569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661987"/>
            <a:ext cx="342900" cy="304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552700"/>
            <a:ext cx="10972800" cy="29051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04382"/>
              </p:ext>
            </p:extLst>
          </p:nvPr>
        </p:nvGraphicFramePr>
        <p:xfrm>
          <a:off x="609600" y="2552700"/>
          <a:ext cx="10963275" cy="29051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ชื่อหน้า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ชื่อไฟล์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เนื้อหาและการจัดวางหลัก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lang="th-TH" sz="1350" b="1" i="0" u="none" dirty="0">
                          <a:solidFill>
                            <a:srgbClr val="1E293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1. หน้าแรก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index.html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รูปประจำตัว, ชื่อ, ตำแหน่งงานที่สนใจ, ข้อความแนะนำตนเอง และสรุปจุดเด่น 3 ด้าน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2. ประวัติและทักษะ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about.html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ข้อมูลประวัติส่วนตัว, ประวัติการศึกษา, เป้าหมายการทำงาน รวมถึงทักษะด้านเทคนิคและทักษะการทำงานแยกตามหมวดหมู่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3. ผลงาน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projects.html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แสดงผลงาน 3 โครงงาน พร้อมภาพตัวอย่าง, คำอธิบายระบบ, หน้าที่รับผิดชอบ, เครื่องมือที่ใช้</a:t>
                      </a:r>
                      <a:b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</a:br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และลิงก์เข้าชมระบบ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4. ติดต่อ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contact.html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ช่องทางติดต่อ (Email, GitHub, Social Media) และแบบฟอร์มติดต่อจำลอง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8335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652081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โครงสร้างไฟล์และรายละเอียดเนื้อหา 4 หน้าหลัก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982075" y="2881312"/>
            <a:ext cx="2600325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DDAB89C3-02BE-307E-0ECA-E495842C59E4}"/>
              </a:ext>
            </a:extLst>
          </p:cNvPr>
          <p:cNvSpPr/>
          <p:nvPr/>
        </p:nvSpPr>
        <p:spPr>
          <a:xfrm>
            <a:off x="9220200" y="3052762"/>
            <a:ext cx="837819" cy="276225"/>
          </a:xfrm>
          <a:prstGeom prst="roundRect">
            <a:avLst>
              <a:gd name="adj" fmla="val 15384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0" y="2881312"/>
            <a:ext cx="2600325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2B8699C3-F843-99C5-24DE-AA48DA8C431D}"/>
              </a:ext>
            </a:extLst>
          </p:cNvPr>
          <p:cNvSpPr/>
          <p:nvPr/>
        </p:nvSpPr>
        <p:spPr>
          <a:xfrm>
            <a:off x="6429374" y="3052762"/>
            <a:ext cx="1635634" cy="276225"/>
          </a:xfrm>
          <a:prstGeom prst="roundRect">
            <a:avLst>
              <a:gd name="adj" fmla="val 15384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0425" y="2881312"/>
            <a:ext cx="2600325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12A8D7E4-D282-7405-89B7-B0FC1C2D09AB}"/>
              </a:ext>
            </a:extLst>
          </p:cNvPr>
          <p:cNvSpPr/>
          <p:nvPr/>
        </p:nvSpPr>
        <p:spPr>
          <a:xfrm>
            <a:off x="3638550" y="3052762"/>
            <a:ext cx="712280" cy="276225"/>
          </a:xfrm>
          <a:prstGeom prst="roundRect">
            <a:avLst>
              <a:gd name="adj" fmla="val 15384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609600" y="2881312"/>
            <a:ext cx="2600325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7725" y="3052762"/>
            <a:ext cx="1451038" cy="276225"/>
          </a:xfrm>
          <a:prstGeom prst="roundRect">
            <a:avLst>
              <a:gd name="adj" fmla="val 15384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0" y="652462"/>
            <a:ext cx="247650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8335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844105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สถาปัตยกรรมโครงสร้างมาตรฐาน HTML5 (Semantic 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492" y="3117547"/>
            <a:ext cx="145103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200" dirty="0">
                <a:solidFill>
                  <a:srgbClr val="4C63B6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&lt;header&gt; &amp; &lt;nav&gt;</a:t>
            </a:r>
            <a:endParaRPr sz="1200" b="0" i="0" u="none" dirty="0">
              <a:solidFill>
                <a:srgbClr val="4C63B6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725" y="3500437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ส่วนหัวและเมนูนำทาง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62387"/>
            <a:ext cx="22193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th-TH" sz="1350" dirty="0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ครอบคลาส .</a:t>
            </a:r>
            <a:r>
              <a:rPr lang="en-US" sz="1350" dirty="0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navbar </a:t>
            </a:r>
            <a:r>
              <a:rPr lang="th-TH" sz="1350" dirty="0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และเมนูลิงก์ 4 หน้า ช่วยให้ </a:t>
            </a:r>
            <a:r>
              <a:rPr lang="en-US" sz="1350" dirty="0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Screen Reader </a:t>
            </a:r>
            <a:r>
              <a:rPr lang="th-TH" sz="1350" dirty="0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แยกแยะโครงสร้างได้ถูกต้อง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00437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พื้นที่เนื้อหาหลัก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62387"/>
            <a:ext cx="22193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ครอบเนื้อหาแกนกลางแต่ละหน้า ควบคุมความกว้างไม่ให้ล้นจอด้วย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142" y="3117547"/>
            <a:ext cx="159791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200" dirty="0">
                <a:solidFill>
                  <a:srgbClr val="4C63B6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&lt;section&gt; &amp; &lt;article&gt;</a:t>
            </a:r>
            <a:endParaRPr sz="1200" b="0" i="0" u="none" dirty="0">
              <a:solidFill>
                <a:srgbClr val="4C63B6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9375" y="3500437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การจัดกลุ่มเนื้อหา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862387"/>
            <a:ext cx="22193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 section แยกกลุ่มเนื้อหาตามหัวข้อ และใช้ article กับการ์ดข้อมูลที่เป็นอิสระ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500437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ส่วนท้ายของหน้าเว็บ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862387"/>
            <a:ext cx="22193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แสดงข้อความลิขสิทธิ์และสังกัดสาขาวิชาอย่างเป็นมาตรฐานเดียวกันในทุกหน้า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317724-B728-AA8F-66C0-4023AC596B21}"/>
              </a:ext>
            </a:extLst>
          </p:cNvPr>
          <p:cNvSpPr txBox="1"/>
          <p:nvPr/>
        </p:nvSpPr>
        <p:spPr>
          <a:xfrm>
            <a:off x="3638550" y="3071380"/>
            <a:ext cx="712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solidFill>
                  <a:srgbClr val="4C63B6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&lt;main&gt;</a:t>
            </a:r>
            <a:endParaRPr lang="en-US" sz="1200" b="0" i="0" u="none" dirty="0">
              <a:solidFill>
                <a:srgbClr val="4C63B6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DFA5DD-EE41-88E4-1A8C-2810CF38E928}"/>
              </a:ext>
            </a:extLst>
          </p:cNvPr>
          <p:cNvSpPr txBox="1"/>
          <p:nvPr/>
        </p:nvSpPr>
        <p:spPr>
          <a:xfrm>
            <a:off x="9234963" y="3079966"/>
            <a:ext cx="808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solidFill>
                  <a:srgbClr val="4C63B6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&lt;footer&gt;</a:t>
            </a:r>
            <a:endParaRPr lang="en-US" sz="1200" b="0" i="0" u="none" dirty="0">
              <a:solidFill>
                <a:srgbClr val="4C63B6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5815"/>
            <a:ext cx="6328469" cy="2578893"/>
          </a:xfrm>
          <a:prstGeom prst="roundRect">
            <a:avLst>
              <a:gd name="adj" fmla="val 36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242869" y="2490787"/>
            <a:ext cx="4339530" cy="81915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42869" y="3462337"/>
            <a:ext cx="4339530" cy="81915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42869" y="4433887"/>
            <a:ext cx="4339530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42894" y="2690812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42894" y="3662362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42894" y="4767262"/>
            <a:ext cx="408384" cy="419100"/>
          </a:xfrm>
          <a:prstGeom prst="roundRect">
            <a:avLst>
              <a:gd name="adj" fmla="val 18658"/>
            </a:avLst>
          </a:prstGeom>
          <a:solidFill>
            <a:srgbClr val="F4F7F6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0" y="652462"/>
            <a:ext cx="247650" cy="323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2944415"/>
            <a:ext cx="5966519" cy="217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css/style.css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:root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--primary-color: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#1e293b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สีกรมท่าเข้ม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--secondary-color: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#2563eb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สีน้ำเงินหลัก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--hover-color: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#1d4ed8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สีสถานะ Hover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--bg-main: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#f4f7f6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สีพื้นหลังหน้าเว็บ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--bg-card: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#f8fafc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สีพื้นหลังการ์ด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A5B4F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--border-color: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#e2e8f0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สีเส้นขอบ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83837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703087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ระบบสีและตัวแปร CSS (Design Tokens ใน :root)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4394" y="2633662"/>
            <a:ext cx="3238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--primary-color (#1e293b)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4394" y="2900362"/>
            <a:ext cx="3238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ใช้กับ Header, Footer และข้อความหัวเรื่อง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4394" y="3605212"/>
            <a:ext cx="33909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--secondary-color (#2563eb)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4394" y="3871912"/>
            <a:ext cx="33909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สี Accent สำหรับปุ่ม Action และเมนู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3678" y="4576762"/>
            <a:ext cx="347394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--bg-main (#f4f7f6)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3678" y="4843462"/>
            <a:ext cx="3473946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พื้นหลังโทนสว่าง อ่านง่าย และ Contrast ชัดเจน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62200"/>
            <a:ext cx="6328469" cy="3286125"/>
          </a:xfrm>
          <a:prstGeom prst="roundRect">
            <a:avLst>
              <a:gd name="adj" fmla="val 289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242869" y="2095500"/>
            <a:ext cx="4339530" cy="1171575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42869" y="3419475"/>
            <a:ext cx="4339530" cy="1171575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42869" y="4743450"/>
            <a:ext cx="4339530" cy="1171575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2869" y="2095500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42869" y="3419475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42869" y="4743450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661987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2590800"/>
            <a:ext cx="5966519" cy="2906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1. ควบคุมขนาดกล่องรวมขอบ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* { 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box-sizing: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border-box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2. จัดเรียงเลย์เอาต์การ์ดยืดหยุ่น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.card-grid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display: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gap: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20px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flex-wrap: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wrap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3. กำหนดขนาดการ์ดแสดงผลบนจอใหญ่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.card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 </a:t>
            </a:r>
            <a:r>
              <a:rPr sz="1125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flex: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125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1 1 30%</a:t>
            </a:r>
            <a:r>
              <a:rPr sz="1125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8335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766095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สถาปัตยกรรมการจัดวาง CSS Flexbox &amp; Box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1469" y="2247900"/>
            <a:ext cx="421646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1. box-sizing: border-box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1469" y="2581275"/>
            <a:ext cx="401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รวมระยะ Padding และ Border ในขนาดกล่อง ป้องกันเนื้อหาล้นจอ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1469" y="3571875"/>
            <a:ext cx="421646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2. display: flex &amp; gap: 20px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1469" y="3905250"/>
            <a:ext cx="401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จัดระเบียบองค์ประกอบแนวระนาบ พร้อมเว้นระยะเท่ากันอย่างแม่นยำ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1469" y="4895850"/>
            <a:ext cx="421646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3. flex-wrap: wrap &amp; flex: 1 1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1469" y="5229225"/>
            <a:ext cx="401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ปัดขึ้นแถวใหม่อัตโนมัติเมื่อจอแคบ และแบ่งเป็น 3 คอลัมน์บนจอใหญ่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9558"/>
            <a:ext cx="6312247" cy="2691407"/>
          </a:xfrm>
          <a:prstGeom prst="roundRect">
            <a:avLst>
              <a:gd name="adj" fmla="val 353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226647" y="2214562"/>
            <a:ext cx="4355752" cy="11049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26647" y="3452812"/>
            <a:ext cx="4355752" cy="11049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26647" y="4691062"/>
            <a:ext cx="4355752" cy="11049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26647" y="2214562"/>
            <a:ext cx="38100" cy="1104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26647" y="3452812"/>
            <a:ext cx="38100" cy="1104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6647" y="4691062"/>
            <a:ext cx="38100" cy="11049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61987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405062"/>
            <a:ext cx="1714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364331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6650" y="4881562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9150" y="2869108"/>
            <a:ext cx="5988397" cy="2272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Tablet View: 769px - 1024px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C489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@media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max-width: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1024px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 </a:t>
            </a:r>
            <a:r>
              <a:rPr sz="1050" b="0" i="0" u="none">
                <a:solidFill>
                  <a:srgbClr val="EC489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and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min-width: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769px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 {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.card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1 1 45%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 </a:t>
            </a:r>
            <a:r>
              <a:rPr sz="10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ปรับลดเหลือ 2 คอลัมน์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Mobile View: หน้าจอไม่เกิน 768px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C4899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@media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max-width: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768px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 {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.navbar, .hero-box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flex-direction: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column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.nav-menu li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0 0 calc(50% - 4px)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.card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flex: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1 1 100%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; } </a:t>
            </a:r>
            <a:r>
              <a:rPr sz="10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/* 1 คอลัมน์เต็มพื้นที่ */</a:t>
            </a:r>
            <a:r>
              <a:rPr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050" b="0" i="0" u="none">
                <a:solidFill>
                  <a:srgbClr val="E2E8F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84157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726090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กลยุทธ์การปรับหน้าจอ (Responsive Breakpoints)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6197" y="2652712"/>
            <a:ext cx="407000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การ์ด 3 คอลัมน์ (flex: 1 1 30%), Navbar เรียงตามแนวนอน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6197" y="3890962"/>
            <a:ext cx="407000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ปรับลดเหลือ 2 คอลัมน์ (flex: 1 1 45%) พอดีกับหน้าจอแท็บเล็ต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6197" y="5129212"/>
            <a:ext cx="407000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h-TH" sz="1350" dirty="0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จัดระเบียบแนวตั้ง </a:t>
            </a:r>
            <a:r>
              <a:rPr lang="en-US" sz="1350" dirty="0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column, </a:t>
            </a:r>
            <a:r>
              <a:rPr lang="th-TH" sz="1350" dirty="0">
                <a:solidFill>
                  <a:srgbClr val="64748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เมนู 2 คอลัมน์, ขยายการ์ดเต็ม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6197" y="2347912"/>
            <a:ext cx="22288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Desktop View (&gt; 1024px)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6197" y="3586162"/>
            <a:ext cx="2647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Tablet View (769px – 1024px)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6197" y="4824412"/>
            <a:ext cx="19992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Mobile View (≤ 768px)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571500"/>
            <a:ext cx="3048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7400"/>
            <a:ext cx="6827490" cy="409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890" y="2057400"/>
            <a:ext cx="3840509" cy="409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695" y="176212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076450"/>
            <a:ext cx="6789390" cy="405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853" y="1762125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565" y="2124075"/>
            <a:ext cx="3707159" cy="396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1000"/>
            <a:ext cx="82715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873109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หลักฐานการทดสอบจริงบนเบราว์เซอร์ (Desktop &amp; Mobile 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6395" y="1714500"/>
            <a:ext cx="36957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Desktop View (หน้าจอคอมพิวเตอร์ &gt; 1024px)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4403" y="1714500"/>
            <a:ext cx="298028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Mobile View (หน้าจอมือถือ ≤ 768px)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61987"/>
            <a:ext cx="381000" cy="304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038350"/>
            <a:ext cx="10972800" cy="3895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465517"/>
              </p:ext>
            </p:extLst>
          </p:nvPr>
        </p:nvGraphicFramePr>
        <p:xfrm>
          <a:off x="609600" y="2038350"/>
          <a:ext cx="10972800" cy="38957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คำสั่ง / Selector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หน้าที่การทำงาน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การประยุกต์ใช้ใน Mini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:root / var()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กำหนดตัวแปรเก็บค่าสีส่วนกลาง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กำหนดโทนสีหลักของเว็บ แก้ไขค่าสีที่เดียว มีผลอัปเดตพร้อมกันทั้ง 4 หน้า 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box-sizing: border-box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ล็อกขนาดกล่องรวมขอบและ</a:t>
                      </a:r>
                      <a:b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</a:br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ระยะด้านใน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ใส่ครอบคลุมทุกส่วน (</a:t>
                      </a:r>
                      <a:r>
                        <a:rPr lang="th-TH" sz="1200" kern="1200" dirty="0">
                          <a:solidFill>
                            <a:schemeClr val="tx1"/>
                          </a:solidFill>
                          <a:latin typeface="Prompt" panose="00000500000000000000" pitchFamily="2" charset="-34"/>
                          <a:ea typeface="+mn-ea"/>
                          <a:cs typeface="Prompt" panose="00000500000000000000" pitchFamily="2" charset="-34"/>
                        </a:rPr>
                        <a:t>*</a:t>
                      </a:r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) เพื่อป้องกันขอบและระยะเว้น (Padding) ดันกล่องจนล้นจอ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display: flex &amp; gap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จัดเรียงองค์ประกอบและเว้นระยะห่าง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จัดเมนูนำทาง (</a:t>
                      </a:r>
                      <a:r>
                        <a:rPr lang="th-TH" sz="1200" kern="1200" dirty="0">
                          <a:solidFill>
                            <a:schemeClr val="tx1"/>
                          </a:solidFill>
                          <a:latin typeface="Prompt" panose="00000500000000000000" pitchFamily="2" charset="-34"/>
                          <a:ea typeface="+mn-ea"/>
                          <a:cs typeface="Prompt" panose="00000500000000000000" pitchFamily="2" charset="-34"/>
                        </a:rPr>
                        <a:t>.navbar</a:t>
                      </a:r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) และการ์ดผลงาน ให้เรียงต่อกันเป็นระเบียบและมีระยะห่างเท่ากัน 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img { max-width: 100%; 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ปรับขนาดรูปภาพตามหน้าจอ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ควบคุมรูปโปรไฟล์และรูปผลงานไม่ให้กว้างเกินขอบจอ ย่อขยายได้พอดีบนมือถือ </a:t>
                      </a:r>
                      <a:endParaRPr lang="th-TH"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:hover &amp; .active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แสดงสถานะการตอบสนองต่อผู้ใช้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เปลี่ยนสีปุ่มเมื่อเลื่อนเมาส์ไปชี้ และแสดงแถบสีไฮไลต์ที่เมนูเพื่อบอกว่ากำลังเปิดอยู่หน้าไหน</a:t>
                      </a:r>
                      <a:endParaRPr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53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@media (max-width: 768px)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กำหนดรูปแบบแสดงผลบน</a:t>
                      </a:r>
                      <a:b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</a:br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หน้าจอมือถือ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dirty="0"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ปรับการเรียงจากแนวนอนเป็นแนวตั้ง และขยายการ์ดให้กว้างเต็มหน้าจอบนอุปกรณ์พกพา</a:t>
                      </a:r>
                      <a:endParaRPr lang="th-TH" sz="1200" b="0" i="0" u="none" dirty="0">
                        <a:solidFill>
                          <a:srgbClr val="475569"/>
                        </a:solidFill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83997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596074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คลังคำสั่งและ Selector สำคัญที่ใช้งานจริง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62225"/>
            <a:ext cx="5353050" cy="2886075"/>
          </a:xfrm>
          <a:prstGeom prst="roundRect">
            <a:avLst>
              <a:gd name="adj" fmla="val 396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9350" y="2657475"/>
            <a:ext cx="5353050" cy="2695575"/>
          </a:xfrm>
          <a:prstGeom prst="roundRect">
            <a:avLst>
              <a:gd name="adj" fmla="val 424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85825" y="3952875"/>
            <a:ext cx="48006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05575" y="4048125"/>
            <a:ext cx="4800600" cy="102870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6619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813008"/>
            <a:ext cx="2476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905125"/>
            <a:ext cx="21907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84157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58207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ปัญหาทางเทคนิคและแนวทางการแก้ไขจริง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05175"/>
            <a:ext cx="48958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สาเหตุ:</a:t>
            </a:r>
            <a:r>
              <a:rPr sz="1350" b="0" i="0" u="none">
                <a:solidFill>
                  <a:srgbClr val="7F1D1D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ภาพต้นฉบับมีขนาดพิกเซลสูง ดันความกว้าง Container จนเกิดแถบเลื่อนแนวนอนบนหน้าจอมือถือ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081760"/>
            <a:ext cx="45529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img</a:t>
            </a:r>
            <a:r>
              <a:rPr sz="1200" b="0" i="0" u="none" dirty="0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{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max-width: 100%;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height: auto;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display: block;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4ADE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400425"/>
            <a:ext cx="48958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สาเหตุ:</a:t>
            </a:r>
            <a:r>
              <a:rPr sz="1350" b="0" i="0" u="none">
                <a:solidFill>
                  <a:srgbClr val="1E3A8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ค่าเริ่มต้นของ Flex Container คือ nowrap ทำให้การ์ดทั้ง 3 ใบถูกบีบให้อยู่ในแถวเดียว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5112" y="4166711"/>
            <a:ext cx="45529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0A5F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.card-grid {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60A5F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  flex-wrap: wrap;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60A5F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}</a:t>
            </a:r>
            <a:r>
              <a:rPr sz="1200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sz="1200" b="0" i="0" u="none" dirty="0">
                <a:solidFill>
                  <a:srgbClr val="60A5F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.card { flex: 1 1 30%;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2838450"/>
            <a:ext cx="471058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1. รูปภาพล้นกรอบและเกิด Horizontal Scrollbar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950" y="2933700"/>
            <a:ext cx="354044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2. การ์ดเนื้อหาถูกบีบอัดเมื่อย่อหน้าจอ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62225"/>
            <a:ext cx="5334000" cy="2886075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562225"/>
            <a:ext cx="5334000" cy="2886075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61987"/>
            <a:ext cx="3810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881312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8813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348037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014787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681537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3348037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01478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681537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80631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SECTION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54906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สิ่งที่ได้เรียนรู้และแนวทางพัฒนาต่อยอด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2838450"/>
            <a:ext cx="252031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สิ่งที่ได้เรียนรู้จากโครงงาน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330517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CSS Flexbox: จัดองค์ประกอบหน้าเว็บอย่างยืดหยุ่นและเป็นระบบ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397192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Semantic HTML5: เขียนแท็กอย่างถูกต้องเพื่อ Accessibility และ SEO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463867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Responsive Design: วางแผน Breakpoints รองรับทุกขนาดหน้าจอ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525" y="2838450"/>
            <a:ext cx="2450306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ทิศทางการพัฒนาต่อยอด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275" y="330517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JavaScript: เพิ่มปุ่ม Hamburger Menu บนมือถือ และระบบสลับ Dark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397192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Backend API: เชื่อมต่อฟอร์มติดต่อ (contact.html) ไปยัง Email API 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4638675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Web Performance: บีบอัดรูปภาพและแปลงเป็น WebP เพื่อโหลดไวยิ่งขึ้น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24050" y="4416623"/>
            <a:ext cx="8343900" cy="628650"/>
          </a:xfrm>
          <a:prstGeom prst="roundRect">
            <a:avLst>
              <a:gd name="adj" fmla="val 15151"/>
            </a:avLst>
          </a:prstGeom>
          <a:solidFill>
            <a:srgbClr val="1C263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812726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1974651"/>
            <a:ext cx="36195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70496" y="2650926"/>
            <a:ext cx="8051006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ขอบคุณสำหรับการรับชมและรับฟัง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6203" y="3441501"/>
            <a:ext cx="8179593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th-TH" dirty="0">
                <a:latin typeface="Prompt" panose="00000500000000000000" pitchFamily="2" charset="-34"/>
                <a:cs typeface="Prompt" panose="00000500000000000000" pitchFamily="2" charset="-34"/>
              </a:rPr>
              <a:t>
</a:t>
            </a:r>
            <a:r>
              <a:rPr lang="th-TH" dirty="0">
                <a:solidFill>
                  <a:srgbClr val="94A3B8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ยินดีรับฟังคำแนะนำจากอาจารย์สุขสวัสดิ์ แซ่ลิ่ม เพื่อนำไปพัฒนาต่อยอดครับ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4081" y="4667094"/>
            <a:ext cx="440140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https://github.com/Sxdalnwza/Mini-Project.git</a:t>
            </a:r>
            <a:endParaRPr lang="th-TH" sz="120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14" name="Graphic 13" descr="Web design with solid fill">
            <a:extLst>
              <a:ext uri="{FF2B5EF4-FFF2-40B4-BE49-F238E27FC236}">
                <a16:creationId xmlns:a16="http://schemas.microsoft.com/office/drawing/2014/main" id="{B7336285-11DA-F1E7-2D04-6CACE5DF8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9800" y="4503456"/>
            <a:ext cx="469392" cy="4693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7CB402-2A0D-EB37-FA92-649A2AA999B8}"/>
              </a:ext>
            </a:extLst>
          </p:cNvPr>
          <p:cNvSpPr txBox="1"/>
          <p:nvPr/>
        </p:nvSpPr>
        <p:spPr>
          <a:xfrm>
            <a:off x="2657377" y="4620928"/>
            <a:ext cx="3346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https://sxdalnwza.github.io/Mini-Project/</a:t>
            </a:r>
            <a:endParaRPr lang="th-TH" sz="120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A7EEE26-64C3-B674-5F5E-2B642D99F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3605" y="4586632"/>
            <a:ext cx="288631" cy="288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1329</Words>
  <Application>Microsoft Office PowerPoint</Application>
  <PresentationFormat>Widescreen</PresentationFormat>
  <Paragraphs>125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Aptos</vt:lpstr>
      <vt:lpstr>Calibri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ปวีณ์กร ศรีสุข</cp:lastModifiedBy>
  <cp:revision>4</cp:revision>
  <dcterms:created xsi:type="dcterms:W3CDTF">2013-01-27T09:14:16Z</dcterms:created>
  <dcterms:modified xsi:type="dcterms:W3CDTF">2026-10-11T21:21:36Z</dcterms:modified>
  <cp:category/>
</cp:coreProperties>
</file>